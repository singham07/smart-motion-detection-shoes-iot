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2011680" cy="137160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572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ESP32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2103120"/>
            <a:ext cx="2011680" cy="1371600"/>
          </a:xfrm>
          <a:prstGeom prst="rect">
            <a:avLst/>
          </a:prstGeom>
          <a:solidFill>
            <a:srgbClr val="1B2A4A"/>
          </a:solidFill>
          <a:ln w="19050">
            <a:solidFill>
              <a:srgbClr val="90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1031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0E0EF"/>
                </a:solidFill>
              </a:rPr>
              <a:t>ADXL345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0" y="3749040"/>
            <a:ext cx="201168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749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ThingWorx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Motion Detection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 using IoT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Wearable IoT-Based Motion Monitoring System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747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Project Presentation  |  2024–2025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265176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430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Inactivity Risks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Fatigue, injury, or unsafe working conditions may go unnoticed in real-time, leading to delayed response and serious consequences.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14400"/>
            <a:ext cx="2651760" cy="10972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1430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Fails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514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supervision is inefficient, unreliable, and resource-intensive — impossible to scale across large industrial environments.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91440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914400"/>
            <a:ext cx="265176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1430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08076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Needed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514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automated monitoring ensures immediate detection and response, reducing risk and improving worker safety.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9144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Industrial Worker Safety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of factory/warehouse workers to prevent accidents.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960120"/>
            <a:ext cx="9144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051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 Elderly Monitoring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20440" y="16002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falls or prolonged inactivity in elderly and send instant alerts.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960120"/>
            <a:ext cx="9144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051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Fitness Tracking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16002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step count, gait patterns, and activity levels for athletes.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71800"/>
            <a:ext cx="9144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63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☣️  Hazard Detection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supervisors when workers enter restricted or hazardous zones.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29718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2971800"/>
            <a:ext cx="9144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063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Remote Supervision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2044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distributed workforce remotely via IoT cloud dashboards.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 across industries — from safety to wellness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73152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170432"/>
            <a:ext cx="411480" cy="4114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868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V1 (Type-C)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microcontroller with built-in WiFi &amp; Bluetooth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240 MHz, 4MB Flash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22960"/>
            <a:ext cx="73152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170432"/>
            <a:ext cx="411480" cy="4114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868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ADXL345 Accelerometer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digital accelerometer for precise motion sensing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40680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±2g to ±16g range, I2C/SPI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28600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286000"/>
            <a:ext cx="73152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633472"/>
            <a:ext cx="411480" cy="4114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DC-DC Converter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Step-down voltage regulator for stable 3.3V supply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5156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4V–40V, Output: 1.25–37V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28600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286000"/>
            <a:ext cx="73152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633472"/>
            <a:ext cx="411480" cy="4114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TP4056 Charging Module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battery charging and protection circuit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4068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charge current, over-discharge protection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74904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749040"/>
            <a:ext cx="73152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096512"/>
            <a:ext cx="411480" cy="4114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51560" y="3794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Battery (18650)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515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rechargeable power source for wearable use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51560" y="4572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3.7V nominal, ~3000mAh capacity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74904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749040"/>
            <a:ext cx="73152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4096512"/>
            <a:ext cx="411480" cy="4114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40680" y="3794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Wires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4068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data lines and power interconnections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40680" y="4572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wires for breadboard prototyping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2194560" cy="2560320"/>
          </a:xfrm>
          <a:prstGeom prst="rect">
            <a:avLst/>
          </a:prstGeom>
          <a:solidFill>
            <a:srgbClr val="1B2A4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ADXL345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691640" y="1737360"/>
            <a:ext cx="5943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91640" y="2212848"/>
            <a:ext cx="5943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511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691640" y="2688336"/>
            <a:ext cx="5943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266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691640" y="3163824"/>
            <a:ext cx="5943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777240"/>
            <a:ext cx="2377440" cy="3017520"/>
          </a:xfrm>
          <a:prstGeom prst="rect">
            <a:avLst/>
          </a:prstGeom>
          <a:solidFill>
            <a:srgbClr val="1B2A4A"/>
          </a:solidFill>
          <a:ln w="25400">
            <a:solidFill>
              <a:srgbClr val="90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777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DevKit V1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66160" y="20756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66160" y="25511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66160" y="30266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1965960"/>
            <a:ext cx="8229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1234440"/>
            <a:ext cx="1920240" cy="1371600"/>
          </a:xfrm>
          <a:prstGeom prst="rect">
            <a:avLst/>
          </a:prstGeom>
          <a:solidFill>
            <a:srgbClr val="1B2A4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123444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ThingWorx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Flow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17830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60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Battery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40280" y="42062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60320" y="4160520"/>
            <a:ext cx="17830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4160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TP4056 Charging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343400" y="42062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63440" y="4160520"/>
            <a:ext cx="17830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160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DC-DC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46520" y="42062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766560" y="4160520"/>
            <a:ext cx="17830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4160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7" name="Image 0" descr="/home/claude/hardwar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777240"/>
            <a:ext cx="4297680" cy="3200400"/>
          </a:xfrm>
          <a:prstGeom prst="rect">
            <a:avLst/>
          </a:prstGeom>
        </p:spPr>
      </p:pic>
      <p:pic>
        <p:nvPicPr>
          <p:cNvPr id="8" name="Image 1" descr="/home/claude/hardware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777240"/>
            <a:ext cx="402336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4069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View — ESP32 + ADXL345 + Power Circuit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5488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View — TP4056 + LM2596 + Li-ion Battery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Bharthia, Uttar Pradesh, India  |  30/04/2026 09:15 AM IST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Libraries &amp; Modules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7132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59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&lt;WiFi.h&gt;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WiFi connection and network management for ESP32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618488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618488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550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&lt;HTTPClient.h&gt;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1984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REST API communication via HTTP PUT requests to ThingWorx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14016"/>
            <a:ext cx="8503920" cy="7132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14016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50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&lt;Wire.h&gt;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7797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I2C serial communication protocol (SDA/SCL)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09544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0954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46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&lt;Adafruit_Sensor.h&gt;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75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Unified sensor abstraction layer (Adafruit library)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005072"/>
            <a:ext cx="8503920" cy="7132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0507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416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&lt;Adafruit_ADXL345_U.h&gt;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370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ADXL345 accelerometer driver and control functions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Code — ESP32 + ADXL345 → ThingWorx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749808"/>
            <a:ext cx="850392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50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WiFi &amp; ThingWorx credentials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07442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ssid = "GLA";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29844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server = "http://172.16.78.20:7080/Thingworx/..."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52247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appKey = "5cbc25ff-5b80-4f43-ac4f-edf6687e08b9";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9705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Adafruit_ADXL345_Unified accel = Adafruit_ADXL345_Unified(12345);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1858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64261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Wire.begin(21, 22);  // SDA=21, SCL=22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8666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WiFi.begin(ssid, password);  accel.begin();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0906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5387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7627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accel.getEvent(&amp;event);  // Read X, Y, Z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data = '{"x_value":' + String(x) + ',"y_value":' + String(y) + '...}';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2108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http.PUT(data);  delay(2000);  // Send to ThingWorx every 2s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43484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ThingWorx Subscription — Motion Detection Logic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749808"/>
            <a:ext cx="850392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50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ThingWorx JavaScript Subscription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07442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threshold = 0.5;  // Sensitivity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29844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dx = Math.abs(me.x_value - me.prev_x);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52247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dy = Math.abs(me.y_value - me.prev_y);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dz = Math.abs(me.z_value - me.prev_z);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isMoving = (dx &gt; threshold || dy &gt; threshold || dz &gt; threshold);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64261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diff = (currentTime - LastMoveTime) / 1000;  // seconds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0906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(isMoving) {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1470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me.LastMoveTime = currentTime;  me.NoMovementAlert = false;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5387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7627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me.NoMovementAlert = (diff &gt; 30);  // Alert after 30s inactivity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43484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me.AlertMessage = isMoving ? "🟢 NORMAL" : "🔴 NO MOVEMENT ALERT";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Code — System 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73152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15214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8503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Setup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9848" y="126187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connects to 'GLA' network. ADXL345 initialized on I2C (GPIO 21/22).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80467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04672"/>
            <a:ext cx="73152" cy="128016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73752" y="1152144"/>
            <a:ext cx="457200" cy="45720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58968" y="8503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 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58968" y="126187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seconds: reads X, Y, Z acceleration values from ADXL345 via I2C bus.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22199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21992"/>
            <a:ext cx="73152" cy="12801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569464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9848" y="22677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PUT to ThingWorx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9848" y="267919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 {x_value, y_value, z_value} sent via HTTP PUT with appKey auth header.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22199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221992"/>
            <a:ext cx="73152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73752" y="2569464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58968" y="22677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ThingWorx Subscription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58968" y="267919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current vs previous values. Threshold = 0.5. No movement → diff timer starts.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3931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39312"/>
            <a:ext cx="73152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3986784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69848" y="36850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69848" y="409651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movement for &gt;30 seconds: NoMovementAlert = true → AlertMessage = '🔴 NO MOVEMENT ALERT'.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639312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639312"/>
            <a:ext cx="73152" cy="12801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73752" y="3986784"/>
            <a:ext cx="457200" cy="45720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58968" y="36850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58968" y="409651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ThingWorx dashboard displays live x/y/z values + alert status in real-time.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Hardware &amp; Software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1508760" cy="12801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ADXL345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132588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Read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3258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57400" y="914400"/>
            <a:ext cx="1508760" cy="12801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9601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DevKit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48840" y="1719072"/>
            <a:ext cx="132588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171907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TX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13258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94760" y="914400"/>
            <a:ext cx="1508760" cy="12801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9601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86200" y="1719072"/>
            <a:ext cx="132588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71907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13258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32120" y="914400"/>
            <a:ext cx="1508760" cy="12801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9601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ThingWorx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23560" y="1719072"/>
            <a:ext cx="132588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71907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13258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69480" y="914400"/>
            <a:ext cx="1508760" cy="12801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9601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60920" y="1719072"/>
            <a:ext cx="132588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171907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2377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ThingWorx Platform Configuration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0040" y="2816352"/>
            <a:ext cx="1828800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2816352"/>
            <a:ext cx="40233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852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Name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240280" y="28529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MOTION_DETECTION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182112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48840" y="3182112"/>
            <a:ext cx="4023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2186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40280" y="3218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GenericThing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3547872"/>
            <a:ext cx="1828800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48840" y="3547872"/>
            <a:ext cx="40233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584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240280" y="3584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x_value, y_value, z_value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3913632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48840" y="3913632"/>
            <a:ext cx="4023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950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240280" y="3950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| Logged: True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4279392"/>
            <a:ext cx="1828800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48840" y="4279392"/>
            <a:ext cx="40233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315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240280" y="4315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dataChange → Motion Detection Logic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0040" y="4645152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48840" y="4645152"/>
            <a:ext cx="4023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681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240280" y="4681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NoMovementAlert after 30 sec inactivity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400800" y="2377440"/>
            <a:ext cx="2423160" cy="91440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23774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NORMAL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detected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00800" y="3429000"/>
            <a:ext cx="2423160" cy="91440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34290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ALERT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movement &gt; 30s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406908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960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Transmission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successfully sent to ThingWorx every 2 seconds with minimal latency via HTTP PUT.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4069080" cy="9144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0E0EF"/>
                </a:solidFill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960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x_value, y_value, z_value displayed in real-time on ThingWorx UI with historical logging.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06908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 Verified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alerts triggered accurately after 30-second threshold of no movement.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71800"/>
            <a:ext cx="40690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Hardware Operation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ADXL345 running reliably on Li-ion battery-powered wearable prototype.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6858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8755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wearable IoT-based motion detection system embedded in a shoe using ESP32 and ADXL345.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18488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78308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709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real-time wireless monitoring via ESP32 WiFi and ThingWorx industrial IoT cloud platform.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414016"/>
            <a:ext cx="8503920" cy="6858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7860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50545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ThingWorx subscription logic detects inactivity (&gt;30s threshold) and raises automatic NO MOVEMENT alerts.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209544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374136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30098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design applicable to elderly care, fitness tracking, industrial safety, and remote worker supervision.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005072"/>
            <a:ext cx="8503920" cy="6858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169664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0965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IoT can transform safety monitoring using lightweight, affordable, and energy-efficient hardware.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IoT can transform safety monitoring using lightweight, affordable hardware.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Motion Detection Shoe using IoT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47472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•  ADXL345  •  ThingWorx  |  IoT Project 2024–2025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Motion Detection Shoe using IoT</dc:title>
  <dc:subject>PptxGenJS Presentation</dc:subject>
  <dc:creator>PptxGenJS</dc:creator>
  <cp:lastModifiedBy>PptxGenJS</cp:lastModifiedBy>
  <cp:revision>1</cp:revision>
  <dcterms:created xsi:type="dcterms:W3CDTF">2026-04-30T04:34:02Z</dcterms:created>
  <dcterms:modified xsi:type="dcterms:W3CDTF">2026-04-30T04:34:02Z</dcterms:modified>
</cp:coreProperties>
</file>